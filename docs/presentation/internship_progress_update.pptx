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0" name="Google Shape;20;p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1" name="Google Shape;21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ctrTitle"/>
          </p:nvPr>
        </p:nvSpPr>
        <p:spPr>
          <a:xfrm>
            <a:off x="685800" y="74087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003B70"/>
                </a:solidFill>
              </a:rPr>
              <a:t>Internship Progress Update</a:t>
            </a:r>
            <a:endParaRPr b="1">
              <a:solidFill>
                <a:srgbClr val="003B70"/>
              </a:solidFill>
            </a:endParaRPr>
          </a:p>
        </p:txBody>
      </p:sp>
      <p:sp>
        <p:nvSpPr>
          <p:cNvPr id="85" name="Google Shape;85;p13"/>
          <p:cNvSpPr txBox="1"/>
          <p:nvPr>
            <p:ph idx="1" type="subTitle"/>
          </p:nvPr>
        </p:nvSpPr>
        <p:spPr>
          <a:xfrm>
            <a:off x="1371600" y="4805075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rPr i="1" lang="en-US">
                <a:solidFill>
                  <a:srgbClr val="888888"/>
                </a:solidFill>
              </a:rPr>
              <a:t>Changeman ETL &amp; Batchman TWS Health Check</a:t>
            </a:r>
            <a:endParaRPr i="1">
              <a:solidFill>
                <a:srgbClr val="888888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rPr lang="en-US">
                <a:solidFill>
                  <a:srgbClr val="888888"/>
                </a:solidFill>
              </a:rPr>
              <a:t>Javier Dominguez-Segura</a:t>
            </a:r>
            <a:endParaRPr/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rPr lang="en-US">
                <a:solidFill>
                  <a:srgbClr val="888888"/>
                </a:solidFill>
              </a:rPr>
              <a:t>July 2026</a:t>
            </a:r>
            <a:endParaRPr/>
          </a:p>
        </p:txBody>
      </p:sp>
      <p:pic>
        <p:nvPicPr>
          <p:cNvPr id="86" name="Google Shape;8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41237" y="2503498"/>
            <a:ext cx="2261539" cy="147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chemeClr val="dk1"/>
                </a:solidFill>
              </a:rPr>
              <a:t>Cumulative Progress</a:t>
            </a:r>
            <a:endParaRPr b="1"/>
          </a:p>
        </p:txBody>
      </p:sp>
      <p:sp>
        <p:nvSpPr>
          <p:cNvPr id="92" name="Google Shape;92;p14"/>
          <p:cNvSpPr txBox="1"/>
          <p:nvPr>
            <p:ph idx="1" type="body"/>
          </p:nvPr>
        </p:nvSpPr>
        <p:spPr>
          <a:xfrm>
            <a:off x="132225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04800" lvl="0" marL="342900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2200"/>
              <a:buChar char="•"/>
            </a:pPr>
            <a:r>
              <a:rPr i="1" lang="en-US" sz="2200">
                <a:solidFill>
                  <a:srgbClr val="1155CC"/>
                </a:solidFill>
              </a:rPr>
              <a:t>Changeman ETL (TIPO-20820)</a:t>
            </a:r>
            <a:endParaRPr i="1" sz="2200">
              <a:solidFill>
                <a:srgbClr val="1155CC"/>
              </a:solidFill>
            </a:endParaRPr>
          </a:p>
          <a:p>
            <a:pPr indent="-2476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pPr>
            <a:r>
              <a:rPr lang="en-US" sz="1800"/>
              <a:t>Automated the daily PROMREPT pipeline (was: one analyst, one laptop, no error detection)</a:t>
            </a:r>
            <a:endParaRPr sz="1800"/>
          </a:p>
          <a:p>
            <a:pPr indent="-2476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pPr>
            <a:r>
              <a:rPr lang="en-US" sz="1800"/>
              <a:t>Validation, structured logging, parallel processing, 31 unit tests</a:t>
            </a:r>
            <a:endParaRPr sz="1800"/>
          </a:p>
          <a:p>
            <a:pPr indent="-2476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pPr>
            <a:r>
              <a:rPr lang="en-US" sz="1800"/>
              <a:t>CyberArk-ready credentials, one-command reproducible setup</a:t>
            </a:r>
            <a:endParaRPr sz="1800"/>
          </a:p>
          <a:p>
            <a:pPr indent="-2476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pPr>
            <a:r>
              <a:rPr lang="en-US" sz="1800"/>
              <a:t>Estimated 40-60 analyst hours/year recovered (assuming daily 15 min manual work)</a:t>
            </a:r>
            <a:endParaRPr sz="1800"/>
          </a:p>
          <a:p>
            <a:pPr indent="-2476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pPr>
            <a:r>
              <a:rPr lang="en-US" sz="1800">
                <a:solidFill>
                  <a:srgbClr val="990000"/>
                </a:solidFill>
              </a:rPr>
              <a:t>Status</a:t>
            </a:r>
            <a:r>
              <a:rPr lang="en-US" sz="1800"/>
              <a:t>: built and tested, UAT/prod deployment remains</a:t>
            </a:r>
            <a:endParaRPr sz="1800"/>
          </a:p>
        </p:txBody>
      </p:sp>
      <p:sp>
        <p:nvSpPr>
          <p:cNvPr id="93" name="Google Shape;93;p14"/>
          <p:cNvSpPr txBox="1"/>
          <p:nvPr>
            <p:ph idx="2" type="body"/>
          </p:nvPr>
        </p:nvSpPr>
        <p:spPr>
          <a:xfrm>
            <a:off x="4267200" y="1600275"/>
            <a:ext cx="48768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342900" rtl="0" algn="l"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2100"/>
              <a:buChar char="•"/>
            </a:pPr>
            <a:r>
              <a:rPr i="1" lang="en-US" sz="2100">
                <a:solidFill>
                  <a:srgbClr val="990000"/>
                </a:solidFill>
              </a:rPr>
              <a:t>Batchman TWS Health Check (TIPO-21179)</a:t>
            </a:r>
            <a:endParaRPr i="1" sz="2100">
              <a:solidFill>
                <a:srgbClr val="990000"/>
              </a:solidFill>
            </a:endParaRPr>
          </a:p>
          <a:p>
            <a:pPr indent="-2476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pPr>
            <a:r>
              <a:rPr lang="en-US" sz="1800"/>
              <a:t>Real hostname resolution and request-time tracking (were hardcoded/missing)</a:t>
            </a:r>
            <a:endParaRPr sz="1800"/>
          </a:p>
          <a:p>
            <a:pPr indent="-2476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pPr>
            <a:r>
              <a:rPr lang="en-US" sz="1800"/>
              <a:t>Scheduled cleanup of stale results per server, threshold now configurable (no hardcoding)</a:t>
            </a:r>
            <a:endParaRPr sz="1800"/>
          </a:p>
          <a:p>
            <a:pPr indent="-2476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pPr>
            <a:r>
              <a:rPr lang="en-US" sz="1800"/>
              <a:t>Refactored the health-check flow for clarity and testability</a:t>
            </a:r>
            <a:endParaRPr sz="1800"/>
          </a:p>
          <a:p>
            <a:pPr indent="-2476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pPr>
            <a:r>
              <a:rPr lang="en-US" sz="1800"/>
              <a:t>9 unit tests, 92% coverage, all passing, covering success and failure paths</a:t>
            </a:r>
            <a:endParaRPr sz="1800"/>
          </a:p>
          <a:p>
            <a:pPr indent="-2476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pPr>
            <a:r>
              <a:rPr lang="en-US" sz="1800">
                <a:solidFill>
                  <a:srgbClr val="990000"/>
                </a:solidFill>
              </a:rPr>
              <a:t>Status</a:t>
            </a:r>
            <a:r>
              <a:rPr lang="en-US" sz="1800"/>
              <a:t>: PR complete, Grafana integration remains</a:t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chemeClr val="dk1"/>
                </a:solidFill>
              </a:rPr>
              <a:t>Status: Both Tasks ~85% Complete</a:t>
            </a:r>
            <a:endParaRPr b="1"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21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i="1" lang="en-US" sz="2400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rPr>
              <a:t>Changeman ETL</a:t>
            </a:r>
            <a:r>
              <a:rPr lang="en-US" sz="2400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remaining work is UAT and prod deployment</a:t>
            </a:r>
            <a:endParaRPr sz="2400"/>
          </a:p>
          <a:p>
            <a:pPr indent="-2349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Blocked on Tomasz's hands-on assistance (deployment access/process)</a:t>
            </a:r>
            <a:endParaRPr sz="2000"/>
          </a:p>
          <a:p>
            <a:pPr indent="-2349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In-person pairing session scheduled: Mon Jul 20, 10:00-11:30am </a:t>
            </a:r>
            <a:endParaRPr sz="2000"/>
          </a:p>
          <a:p>
            <a:pPr indent="-2921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i="1" lang="en-US" sz="2400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Batchman TWS Health Check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remaining work is Grafana wiring</a:t>
            </a:r>
            <a:endParaRPr sz="2400"/>
          </a:p>
          <a:p>
            <a:pPr indent="-2349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Blocked on datasource access/permissions for DEV MongoDB in Grafana</a:t>
            </a:r>
            <a:endParaRPr sz="2000"/>
          </a:p>
          <a:p>
            <a:pPr indent="-2349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Session scheduled: Tue Jul 21, 10:30-11:30am with Dawid Morawiec and Tomasz Luszcz </a:t>
            </a:r>
            <a:endParaRPr sz="2000"/>
          </a:p>
          <a:p>
            <a:pPr indent="-3556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Both remaining scopes are narrow and hands-on, not open unknowns, the bulk of the work </a:t>
            </a:r>
            <a:r>
              <a:rPr lang="en-US" sz="2400"/>
              <a:t>should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already be done</a:t>
            </a:r>
            <a:endParaRPr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>
            <p:ph type="title"/>
          </p:nvPr>
        </p:nvSpPr>
        <p:spPr>
          <a:xfrm>
            <a:off x="457200" y="4571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60"/>
              <a:buFont typeface="Calibri"/>
              <a:buNone/>
            </a:pPr>
            <a:r>
              <a:rPr b="1" lang="en-US" sz="3460">
                <a:solidFill>
                  <a:schemeClr val="dk1"/>
                </a:solidFill>
              </a:rPr>
              <a:t>Working in a Way That </a:t>
            </a:r>
            <a:r>
              <a:rPr b="1" lang="en-US" sz="3460"/>
              <a:t>Speeds Up</a:t>
            </a:r>
            <a:r>
              <a:rPr b="1" lang="en-US" sz="3460">
                <a:solidFill>
                  <a:schemeClr val="dk1"/>
                </a:solidFill>
              </a:rPr>
              <a:t> the Team</a:t>
            </a:r>
            <a:endParaRPr b="1" sz="3460"/>
          </a:p>
        </p:txBody>
      </p:sp>
      <p:sp>
        <p:nvSpPr>
          <p:cNvPr id="105" name="Google Shape;105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Meeting invites written with full context: linked Jira ticket, problem recap, prior guidance quoted back, screenshots attached</a:t>
            </a:r>
            <a:endParaRPr sz="2800"/>
          </a:p>
          <a:p>
            <a:pPr indent="-2603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Attendees arrive ready to work, not to get briefed</a:t>
            </a:r>
            <a:endParaRPr sz="2400"/>
          </a:p>
          <a:p>
            <a:pPr indent="-3175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PRs written with complete descriptions: scope, what's new vs. what was originally asked, explicit call-outs on anything extending beyond the ask</a:t>
            </a:r>
            <a:endParaRPr sz="2800"/>
          </a:p>
          <a:p>
            <a:pPr indent="-3175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Everything cross-linked (Jira, GitHub, Teams) so the full thread is traceable from any single entry point</a:t>
            </a:r>
            <a:endParaRPr sz="2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 sz="4400">
                <a:solidFill>
                  <a:schemeClr val="dk1"/>
                </a:solidFill>
              </a:rPr>
              <a:t>Ask:</a:t>
            </a: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Follow-up Work for the Remaining 4 Weeks</a:t>
            </a:r>
            <a:endParaRPr/>
          </a:p>
        </p:txBody>
      </p:sp>
      <p:sp>
        <p:nvSpPr>
          <p:cNvPr id="111" name="Google Shape;111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2766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Interest</a:t>
            </a:r>
            <a:r>
              <a:rPr lang="en-US"/>
              <a:t> in expanding to new frameworks such as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Kubernetes, Kafka, Elasticsearch </a:t>
            </a:r>
            <a:r>
              <a:rPr lang="en-US"/>
              <a:t>as well as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/>
              <a:t>more Java </a:t>
            </a:r>
            <a:endParaRPr/>
          </a:p>
          <a:p>
            <a:pPr indent="-32766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Requesting at least 2 more tasks, ideally:</a:t>
            </a:r>
            <a:endParaRPr/>
          </a:p>
          <a:p>
            <a:pPr indent="-272415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Broadening the stack beyond what's been touched so far (Python, NDM, CyberArk, Swagger, Jira, LightSpeed, MongoDB, Grafana) while </a:t>
            </a:r>
            <a:r>
              <a:rPr lang="en-US"/>
              <a:t>extending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Java usage</a:t>
            </a:r>
            <a:endParaRPr/>
          </a:p>
          <a:p>
            <a:pPr indent="-272415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Visible production impact rather than sandboxed exercises</a:t>
            </a:r>
            <a:endParaRPr/>
          </a:p>
          <a:p>
            <a:pPr indent="-32766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Rationale: ramped on Java and Spring Core from near scratch in about </a:t>
            </a:r>
            <a:r>
              <a:rPr lang="en-US"/>
              <a:t>a week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capacity exists </a:t>
            </a:r>
            <a:r>
              <a:rPr lang="en-US"/>
              <a:t>to learn new technologies and contribute using them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